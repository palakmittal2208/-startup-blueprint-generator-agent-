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290" r:id="rId2"/>
    <p:sldId id="291" r:id="rId3"/>
    <p:sldId id="292" r:id="rId4"/>
    <p:sldId id="293" r:id="rId5"/>
    <p:sldId id="294" r:id="rId6"/>
    <p:sldId id="295" r:id="rId7"/>
    <p:sldId id="296" r:id="rId8"/>
    <p:sldId id="297" r:id="rId9"/>
    <p:sldId id="310" r:id="rId10"/>
    <p:sldId id="311" r:id="rId11"/>
    <p:sldId id="316" r:id="rId12"/>
    <p:sldId id="315" r:id="rId13"/>
    <p:sldId id="314" r:id="rId14"/>
    <p:sldId id="298" r:id="rId15"/>
    <p:sldId id="299" r:id="rId16"/>
    <p:sldId id="300" r:id="rId17"/>
    <p:sldId id="301" r:id="rId18"/>
    <p:sldId id="302" r:id="rId19"/>
    <p:sldId id="303" r:id="rId20"/>
    <p:sldId id="317" r:id="rId21"/>
    <p:sldId id="321" r:id="rId22"/>
    <p:sldId id="320" r:id="rId23"/>
    <p:sldId id="319" r:id="rId24"/>
    <p:sldId id="318" r:id="rId25"/>
    <p:sldId id="322" r:id="rId26"/>
    <p:sldId id="324" r:id="rId27"/>
    <p:sldId id="323" r:id="rId28"/>
    <p:sldId id="325" r:id="rId29"/>
    <p:sldId id="326" r:id="rId30"/>
    <p:sldId id="328" r:id="rId31"/>
    <p:sldId id="329" r:id="rId32"/>
    <p:sldId id="330" r:id="rId33"/>
    <p:sldId id="336" r:id="rId34"/>
    <p:sldId id="335" r:id="rId35"/>
    <p:sldId id="331" r:id="rId36"/>
    <p:sldId id="334" r:id="rId37"/>
    <p:sldId id="333" r:id="rId38"/>
    <p:sldId id="332" r:id="rId39"/>
    <p:sldId id="337" r:id="rId40"/>
    <p:sldId id="338" r:id="rId41"/>
    <p:sldId id="340" r:id="rId42"/>
    <p:sldId id="339" r:id="rId43"/>
    <p:sldId id="304" r:id="rId44"/>
    <p:sldId id="305" r:id="rId45"/>
    <p:sldId id="306" r:id="rId46"/>
    <p:sldId id="307" r:id="rId47"/>
    <p:sldId id="308" r:id="rId48"/>
    <p:sldId id="309"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9DED597-791F-A23E-F8E6-BC0CB62BC87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6D72028-5681-7382-89D5-41B0F0544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BD0BFD33-D3D4-EAF4-0BC6-27407D189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748627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C5412E6-BA32-9B8A-5CC6-3508F7AAB8B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29B3101-D4D5-D160-3C49-871985ADBC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ADF98C27-AB3B-51B9-F866-45F7C6508D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825136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C6F0654-5D9C-05FB-16B5-974C1EBD0F8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92EB030-1C63-51FB-422F-5CD7AC2F9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4577CBCE-7123-388D-D237-E39513D14A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588128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D54B4B3-87BD-8875-213A-014B083E400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207CDF1-7EBF-8C73-97CB-573C407158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05FE6F38-DD68-B856-37E3-0B080A14A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66261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EA9B14A-60DB-EDE0-1A90-A27756453F5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4200BF1D-01EF-3140-4D4F-39397E4E1C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D1F063AD-1AE7-C50E-2D77-CAF5C9FCC6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4200526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5D39CC2-676D-2CFA-D767-76C75C6B38E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9BFFA2D-9C04-D54D-C7E3-15840D6DA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75276DDB-F43D-7C2E-902C-323CB9DB63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568960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A41E6D5-3A95-285A-DFF0-078CD3FA5A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B400E65-CC5D-3AC5-2B40-863C6D3E94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A4E79635-1A58-C04C-6D4E-B58D827808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596970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3DC9E5A-1A13-FEF2-C5B8-73FC2E09949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3141578-7346-248D-5490-9592C2DDF3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B26E2FD8-5650-1A0B-8DC9-B9B10C581A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795182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5CDA368-5E4E-5DB0-F610-12CF3572A4F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436CDA2-78AF-6988-7CCF-C3C9952B81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E9D22EE3-DADC-E19C-0693-C09B8F20A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11887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6B5C11C-1ED3-3542-7E43-D73C7F4CA40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01BC520-09AE-6F47-EB8B-45E8863D76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292587AC-FB7E-2368-C82D-F4EF9E10DA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522533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BC5AA6D-3BFA-D331-283D-33295A85726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49048BF-3277-626F-EB4A-B2ACB771D2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A071E829-1399-3E7F-E3E1-AD3B896664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1852157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A9EDEAC-13AE-6931-67F4-C5687D69C8F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DA3BB57-95D5-C49F-B932-169AFF4E29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854ACDCC-94FD-59CF-C002-D505142BA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747008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EAD75D2-1064-DEED-B340-7D6114400E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AFEA954-FAA5-3833-12E0-F36520E7C8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603780AD-C793-0FC4-65EA-E283DFA36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9540367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9388570-C4AF-23A5-21EB-44EF987BCB33}"/>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B003C5A-49A1-08EC-CFEA-6A74EB1214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BD85AFDB-B6A7-7FA1-219E-707194E264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259276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BE56CC3-9DE0-3CF6-1A79-8175D3518F4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B33CAC8-0CFA-9D4D-753B-D1E81B1774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729EAFA-4479-3897-2C62-AFB8B5F742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13882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8AF0926-C904-1664-2A97-55D342676CD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9DAE2FB-5843-74F5-B62A-7EB7C611AE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0E296234-9EF3-C83B-625D-CAB214782B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2378970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55AC2A8-C995-8D91-5869-BD12BE147C9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2523DD7-DE55-178B-DA56-A5456FCFB9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E64637C5-19AC-C946-2DC4-1925B7E0A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8761870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8B57310-4684-4067-CCD2-2A0DF7389B8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977F6BA-9D74-A24F-528A-4A18E03FD1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C5A6459-2BDD-8A25-C993-C4C723932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5923728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163ACAF-E644-46BE-9CA1-A54C3A90F1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D8EE5D3-08A8-0E25-DC60-4811DC67B0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FE81E60E-7C46-DBE1-76A6-EB5C171AF0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122616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EE43FA7-548B-8540-0A5A-992497614F7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3364743-9145-0309-8F9A-BD79AD457F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09DB7EA1-EAC0-66EB-B0F6-EC0F25D1F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694774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4B08823-FF70-8B20-3FE8-C5B30EA9956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A9CC45B-5645-A8EE-4A8E-7D14A2FFF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3E803DCE-CB35-0BCE-97B9-882CA8C018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782876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D61872C-E11A-CC62-5668-A3E62FD28D4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96CB88E-96E4-7B87-B2E9-5B51515BAB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38DD2754-D427-0B6F-21EC-398F9DB957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78089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E291734-0F4D-FDB2-2F51-BB5234E694A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6719991-344A-E8E4-8912-A36AA86BB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381923F5-4074-FDA9-D570-F9A591BCA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50221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0575871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0520786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622169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palakmittal2208/-Startup-Blueprint-Generator-Agent-"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dirty="0">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4006991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Palak Mittal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t>palakmittal2208@gmail.com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7223928755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IN" sz="2800" b="1" dirty="0"/>
              <a:t>AI &amp; Business Strategy</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b="1" dirty="0"/>
              <a:t>Startup Blueprint Generator Agent</a:t>
            </a: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D639F262-B6C9-546F-6B57-BF0D366C42F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04791" y="3570068"/>
            <a:ext cx="970556" cy="120753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r>
              <a:rPr lang="en-IN" b="1" dirty="0"/>
              <a:t>Problem Statement : Startup Blueprint Generator Agent</a:t>
            </a:r>
          </a:p>
          <a:p>
            <a:endParaRPr lang="en-IN" dirty="0"/>
          </a:p>
          <a:p>
            <a:r>
              <a:rPr lang="en-IN" b="1" dirty="0"/>
              <a:t>The Challenge</a:t>
            </a:r>
            <a:r>
              <a:rPr lang="en-IN" dirty="0"/>
              <a:t> </a:t>
            </a:r>
          </a:p>
          <a:p>
            <a:r>
              <a:rPr lang="en-IN" dirty="0"/>
              <a:t>A </a:t>
            </a:r>
            <a:r>
              <a:rPr lang="en-IN" b="1" dirty="0"/>
              <a:t>Startup Blueprint Generator Agent</a:t>
            </a:r>
            <a:r>
              <a:rPr lang="en-IN" dirty="0"/>
              <a:t>, powered by </a:t>
            </a:r>
            <a:r>
              <a:rPr lang="en-IN" b="1" dirty="0"/>
              <a:t>RAG (Retrieval-Augmented Generation)</a:t>
            </a:r>
            <a:r>
              <a:rPr lang="en-IN" dirty="0"/>
              <a:t>, transforms </a:t>
            </a:r>
            <a:r>
              <a:rPr lang="en-IN" b="1" dirty="0"/>
              <a:t>raw startup ideas into complete, actionable business blueprints</a:t>
            </a:r>
            <a:r>
              <a:rPr lang="en-IN" dirty="0"/>
              <a:t>. It retrieves relevant data on </a:t>
            </a:r>
            <a:r>
              <a:rPr lang="en-IN" b="1" dirty="0"/>
              <a:t>market research, funding options, competitor analysis, revenue models, government schemes, and legal requirements</a:t>
            </a:r>
            <a:r>
              <a:rPr lang="en-IN" dirty="0"/>
              <a:t> from startup portals, incubator databases, and policy documents.</a:t>
            </a:r>
          </a:p>
          <a:p>
            <a:r>
              <a:rPr lang="en-IN" dirty="0"/>
              <a:t>Users can describe their idea in </a:t>
            </a:r>
            <a:r>
              <a:rPr lang="en-IN" b="1" dirty="0"/>
              <a:t>simple terms</a:t>
            </a:r>
            <a:r>
              <a:rPr lang="en-IN" dirty="0"/>
              <a:t>, and the agent provides a structured plan including </a:t>
            </a:r>
            <a:r>
              <a:rPr lang="en-IN" b="1" dirty="0"/>
              <a:t>business model canvas, estimated budget, go-to-market strategy, and potential investor connections</a:t>
            </a:r>
            <a:r>
              <a:rPr lang="en-IN" dirty="0"/>
              <a:t>. The agent </a:t>
            </a:r>
            <a:r>
              <a:rPr lang="en-IN" b="1" dirty="0"/>
              <a:t>eliminates ambiguity and accelerates the journey from idea to implementation</a:t>
            </a:r>
            <a:r>
              <a:rPr lang="en-IN" dirty="0"/>
              <a:t>. This </a:t>
            </a:r>
            <a:r>
              <a:rPr lang="en-IN" b="1" dirty="0"/>
              <a:t>AI-driven assistant</a:t>
            </a:r>
            <a:r>
              <a:rPr lang="en-IN" dirty="0"/>
              <a:t> empowers aspiring entrepreneurs with </a:t>
            </a:r>
            <a:r>
              <a:rPr lang="en-IN" b="1" dirty="0"/>
              <a:t>clarity, resources, and direction</a:t>
            </a:r>
            <a:r>
              <a:rPr lang="en-IN" dirty="0"/>
              <a:t> to launch their ventures successfully.</a:t>
            </a:r>
          </a:p>
          <a:p>
            <a:endParaRPr lang="en-IN" b="1" dirty="0"/>
          </a:p>
          <a:p>
            <a:r>
              <a:rPr lang="en-US" b="1" dirty="0"/>
              <a:t>The Objective</a:t>
            </a:r>
            <a:r>
              <a:rPr lang="en-US" dirty="0"/>
              <a:t> </a:t>
            </a:r>
          </a:p>
          <a:p>
            <a:r>
              <a:rPr lang="en-IN" dirty="0"/>
              <a:t>Build an </a:t>
            </a:r>
            <a:r>
              <a:rPr lang="en-IN" b="1" dirty="0"/>
              <a:t>AI-powered Startup Blueprint Generator Agent</a:t>
            </a:r>
            <a:r>
              <a:rPr lang="en-IN" dirty="0"/>
              <a:t> that delivers </a:t>
            </a:r>
            <a:r>
              <a:rPr lang="en-IN" b="1" dirty="0"/>
              <a:t>structured business plans and strategic guidance</a:t>
            </a:r>
            <a:r>
              <a:rPr lang="en-IN" dirty="0"/>
              <a:t> for aspiring entrepreneurs. The solution should:</a:t>
            </a:r>
          </a:p>
          <a:p>
            <a:pPr lvl="0"/>
            <a:r>
              <a:rPr lang="en-IN" b="1" dirty="0"/>
              <a:t>Startup Blueprint Generation</a:t>
            </a:r>
            <a:r>
              <a:rPr lang="en-IN" dirty="0"/>
              <a:t> – Transform raw business descriptions into structured plans.</a:t>
            </a:r>
          </a:p>
          <a:p>
            <a:pPr lvl="0"/>
            <a:r>
              <a:rPr lang="en-IN" b="1" dirty="0"/>
              <a:t>Startup Data RAG Retrieval</a:t>
            </a:r>
            <a:r>
              <a:rPr lang="en-IN" dirty="0"/>
              <a:t> – Fetch and summarize market research, funding options, and legal requirements.</a:t>
            </a:r>
          </a:p>
          <a:p>
            <a:pPr lvl="0"/>
            <a:r>
              <a:rPr lang="en-IN" b="1" dirty="0"/>
              <a:t>Blueprint Tracking &amp; Feedback</a:t>
            </a:r>
            <a:r>
              <a:rPr lang="en-IN" dirty="0"/>
              <a:t> – Provide instant strategic feedback on startup plans.</a:t>
            </a:r>
          </a:p>
          <a:p>
            <a:pPr lvl="0"/>
            <a:r>
              <a:rPr lang="en-IN" b="1" dirty="0"/>
              <a:t>Growth &amp; Compliance Focus</a:t>
            </a:r>
            <a:r>
              <a:rPr lang="en-IN" dirty="0"/>
              <a:t> – Suggest go-to-market strategies and budgets.</a:t>
            </a:r>
          </a:p>
          <a:p>
            <a:pPr lvl="0"/>
            <a:r>
              <a:rPr lang="en-IN" b="1" dirty="0"/>
              <a:t>Multi-Agent System</a:t>
            </a:r>
            <a:r>
              <a:rPr lang="en-IN" dirty="0"/>
              <a:t> –</a:t>
            </a:r>
          </a:p>
          <a:p>
            <a:pPr lvl="0"/>
            <a:r>
              <a:rPr lang="en-IN" b="1" dirty="0"/>
              <a:t>Market Research Agent</a:t>
            </a:r>
            <a:r>
              <a:rPr lang="en-IN" dirty="0"/>
              <a:t> (fetches competitor data)</a:t>
            </a:r>
          </a:p>
          <a:p>
            <a:pPr lvl="0"/>
            <a:r>
              <a:rPr lang="en-IN" b="1" dirty="0"/>
              <a:t>Business Model Agent</a:t>
            </a:r>
            <a:r>
              <a:rPr lang="en-IN" dirty="0"/>
              <a:t> (builds business models)</a:t>
            </a:r>
          </a:p>
          <a:p>
            <a:pPr lvl="0"/>
            <a:r>
              <a:rPr lang="en-IN" b="1" dirty="0"/>
              <a:t>Financial Advisory Agent</a:t>
            </a:r>
            <a:r>
              <a:rPr lang="en-IN" dirty="0"/>
              <a:t> (estimates budgets)</a:t>
            </a:r>
          </a:p>
          <a:p>
            <a:pPr lvl="0"/>
            <a:r>
              <a:rPr lang="en-IN" b="1" dirty="0"/>
              <a:t>Strategy &amp; Compliance Agent</a:t>
            </a:r>
            <a:r>
              <a:rPr lang="en-IN" dirty="0"/>
              <a:t> (legal and government schemes)</a:t>
            </a:r>
          </a:p>
          <a:p>
            <a:pPr lvl="0"/>
            <a:r>
              <a:rPr lang="en-IN" b="1" dirty="0"/>
              <a:t>Visualization Dashboard</a:t>
            </a:r>
            <a:r>
              <a:rPr lang="en-IN" dirty="0"/>
              <a:t> – Show structured blueprints and launch progress.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45525"/>
            <a:ext cx="10607040" cy="4185761"/>
          </a:xfrm>
          <a:prstGeom prst="rect">
            <a:avLst/>
          </a:prstGeom>
          <a:noFill/>
        </p:spPr>
        <p:txBody>
          <a:bodyPr wrap="square" rtlCol="0">
            <a:spAutoFit/>
          </a:bodyPr>
          <a:lstStyle/>
          <a:p>
            <a:r>
              <a:rPr lang="en-IN" b="1" dirty="0"/>
              <a:t>Proposed Solution: AI-Powered Startup Blueprint Generator Agent</a:t>
            </a:r>
            <a:endParaRPr lang="en-IN" dirty="0"/>
          </a:p>
          <a:p>
            <a:r>
              <a:rPr lang="en-IN" dirty="0"/>
              <a:t>The proposed solution is a </a:t>
            </a:r>
            <a:r>
              <a:rPr lang="en-IN" b="1" dirty="0"/>
              <a:t>multi-agent AI-powered Startup Blueprint Generator Agent</a:t>
            </a:r>
            <a:r>
              <a:rPr lang="en-IN" dirty="0"/>
              <a:t> built using </a:t>
            </a:r>
            <a:r>
              <a:rPr lang="en-IN" b="1" dirty="0"/>
              <a:t>IBM Bob, IBM watsonx.ai, and Granite Models</a:t>
            </a:r>
            <a:r>
              <a:rPr lang="en-IN" dirty="0"/>
              <a:t> to transform raw startup ideas into complete, actionable business blueprints. The system addresses challenges in market research, financial planning, and startup execution through an intelligent, modular architecture. At its core, the solution uses a </a:t>
            </a:r>
            <a:r>
              <a:rPr lang="en-IN" b="1" dirty="0"/>
              <a:t>Retrieval-Augmented Generation (RAG)</a:t>
            </a:r>
            <a:r>
              <a:rPr lang="en-IN" dirty="0"/>
              <a:t> pipeline to fetch accurate data on market research, funding options, competitor analysis, revenue models, government schemes, and legal requirements from startup portals, incubator databases, and policy documents. This data is embedded and stored in a vector database, enabling the system to retrieve and summarize comprehensive business strategies using Granite models.</a:t>
            </a:r>
          </a:p>
          <a:p>
            <a:r>
              <a:rPr lang="en-IN" dirty="0"/>
              <a:t>The system consists of four key agents:</a:t>
            </a:r>
          </a:p>
          <a:p>
            <a:pPr lvl="0"/>
            <a:r>
              <a:rPr lang="en-IN" b="1" dirty="0"/>
              <a:t>Market Research Agent</a:t>
            </a:r>
            <a:r>
              <a:rPr lang="en-IN" dirty="0"/>
              <a:t> retrieves and summarizes competitor and market intelligence using RAG.</a:t>
            </a:r>
          </a:p>
          <a:p>
            <a:pPr lvl="0"/>
            <a:r>
              <a:rPr lang="en-IN" b="1" dirty="0"/>
              <a:t>Business Model Agent</a:t>
            </a:r>
            <a:r>
              <a:rPr lang="en-IN" dirty="0"/>
              <a:t> generates structural business model canvases and revenue options based on user inputs.</a:t>
            </a:r>
          </a:p>
          <a:p>
            <a:pPr lvl="0"/>
            <a:r>
              <a:rPr lang="en-IN" b="1" dirty="0"/>
              <a:t>Financial Advisory Agent</a:t>
            </a:r>
            <a:r>
              <a:rPr lang="en-IN" dirty="0"/>
              <a:t> estimates initial budgets, financial requirements, and potential investor connections.</a:t>
            </a:r>
          </a:p>
          <a:p>
            <a:pPr lvl="0"/>
            <a:r>
              <a:rPr lang="en-IN" b="1" dirty="0"/>
              <a:t>Strategy &amp; Compliance Agent</a:t>
            </a:r>
            <a:r>
              <a:rPr lang="en-IN" dirty="0"/>
              <a:t> outlines go-to-market strategies and covers necessary government schemes and legal requirements.</a:t>
            </a:r>
          </a:p>
          <a:p>
            <a:r>
              <a:rPr lang="en-IN" dirty="0"/>
              <a:t>The solution includes a </a:t>
            </a:r>
            <a:r>
              <a:rPr lang="en-IN" b="1" dirty="0"/>
              <a:t>user-friendly dashboard</a:t>
            </a:r>
            <a:r>
              <a:rPr lang="en-IN" dirty="0"/>
              <a:t> (built with Flask and React) that visualizes the structured startup plan, tracks implementation roadmaps, and provides clear direction. IBM Bob is used to orchestrate agent workflows, while watsonx.ai ensures scalable model deployment, embeddings, and AI governance. Granite models power reasoning, summarization, and personalization. Overall, this solution delivers an </a:t>
            </a:r>
            <a:r>
              <a:rPr lang="en-IN" b="1" dirty="0"/>
              <a:t>end-to-end intelligent startup assistant</a:t>
            </a:r>
            <a:r>
              <a:rPr lang="en-IN" dirty="0"/>
              <a:t> that empowers aspiring entrepreneurs with clarity, resources, and direction to launch their ventures successfully.</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Grainte model </a:t>
            </a:r>
            <a:r>
              <a:rPr lang="en-US" sz="1800" dirty="0"/>
              <a:t>-  for eg – </a:t>
            </a:r>
            <a:r>
              <a:rPr lang="en-IN" sz="1800" dirty="0"/>
              <a:t>ibm-granite-4-h-small</a:t>
            </a:r>
            <a:r>
              <a:rPr lang="en-US" sz="1800" dirty="0"/>
              <a:t>–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a:t>
            </a:r>
            <a:r>
              <a:rPr lang="en-IN" sz="1800" dirty="0"/>
              <a:t>It provides the infrastructure to build, deploy, and scale the Startup Blueprint Generator Agent efficiently. IBM Cloud enables a </a:t>
            </a:r>
            <a:r>
              <a:rPr lang="en-IN" sz="1800" b="1" dirty="0"/>
              <a:t>reliable, secure, and scalable environment</a:t>
            </a:r>
            <a:r>
              <a:rPr lang="en-IN" sz="1800" dirty="0"/>
              <a:t> for deploying the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IN" sz="1800" dirty="0"/>
              <a:t>RAG to </a:t>
            </a:r>
            <a:r>
              <a:rPr lang="en-IN" sz="1800" b="1" dirty="0"/>
              <a:t>fetch real data first, then generate intelligent answers</a:t>
            </a:r>
            <a:r>
              <a:rPr lang="en-IN" sz="1800" dirty="0"/>
              <a:t>, making the Startup Blueprint Generator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market research and startup policy data retrieval</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7" name="Picture 6">
            <a:extLst>
              <a:ext uri="{FF2B5EF4-FFF2-40B4-BE49-F238E27FC236}">
                <a16:creationId xmlns:a16="http://schemas.microsoft.com/office/drawing/2014/main" id="{98931475-0F1C-852C-0A44-3AB34264963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37360" y="1287780"/>
            <a:ext cx="9042400" cy="508635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8633E5-760C-3F5E-B944-3FC2B7EDEC0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6800" y="465772"/>
            <a:ext cx="10535920" cy="592645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840C0-D4E5-2446-C3D2-D8C154002C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72499A-9263-82FD-E01C-0D3113920CB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8800" y="451485"/>
            <a:ext cx="10911840" cy="6137910"/>
          </a:xfrm>
          <a:prstGeom prst="rect">
            <a:avLst/>
          </a:prstGeom>
        </p:spPr>
      </p:pic>
    </p:spTree>
    <p:extLst>
      <p:ext uri="{BB962C8B-B14F-4D97-AF65-F5344CB8AC3E}">
        <p14:creationId xmlns:p14="http://schemas.microsoft.com/office/powerpoint/2010/main" val="1119098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F219-5FF9-B964-167C-41AF11E201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504496-F6F8-81D5-2473-E9A0E2C5B0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05840" y="673100"/>
            <a:ext cx="10525760" cy="5920740"/>
          </a:xfrm>
          <a:prstGeom prst="rect">
            <a:avLst/>
          </a:prstGeom>
        </p:spPr>
      </p:pic>
    </p:spTree>
    <p:extLst>
      <p:ext uri="{BB962C8B-B14F-4D97-AF65-F5344CB8AC3E}">
        <p14:creationId xmlns:p14="http://schemas.microsoft.com/office/powerpoint/2010/main" val="165583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ABAE-4503-3E34-CFD3-A5A59FBA7CE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8F2A11-C4D8-0B0C-6F7F-D6C1C6C217D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0240" y="579120"/>
            <a:ext cx="10891520" cy="6126480"/>
          </a:xfrm>
          <a:prstGeom prst="rect">
            <a:avLst/>
          </a:prstGeom>
        </p:spPr>
      </p:pic>
    </p:spTree>
    <p:extLst>
      <p:ext uri="{BB962C8B-B14F-4D97-AF65-F5344CB8AC3E}">
        <p14:creationId xmlns:p14="http://schemas.microsoft.com/office/powerpoint/2010/main" val="3898103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1C256-AB2C-E991-9E93-821CB9C24CC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1BA143-BA9A-4DC9-0DE3-CEB7A23B401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7760" y="796924"/>
            <a:ext cx="10251440" cy="5766435"/>
          </a:xfrm>
          <a:prstGeom prst="rect">
            <a:avLst/>
          </a:prstGeom>
        </p:spPr>
      </p:pic>
    </p:spTree>
    <p:extLst>
      <p:ext uri="{BB962C8B-B14F-4D97-AF65-F5344CB8AC3E}">
        <p14:creationId xmlns:p14="http://schemas.microsoft.com/office/powerpoint/2010/main" val="2816230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079CF-BC19-8A59-6128-D05D80BDB7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EE57B0-BF16-D935-B3DE-3C615772650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83920" y="557212"/>
            <a:ext cx="10210800" cy="5743575"/>
          </a:xfrm>
          <a:prstGeom prst="rect">
            <a:avLst/>
          </a:prstGeom>
        </p:spPr>
      </p:pic>
    </p:spTree>
    <p:extLst>
      <p:ext uri="{BB962C8B-B14F-4D97-AF65-F5344CB8AC3E}">
        <p14:creationId xmlns:p14="http://schemas.microsoft.com/office/powerpoint/2010/main" val="2802273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7" name="Picture 6">
            <a:extLst>
              <a:ext uri="{FF2B5EF4-FFF2-40B4-BE49-F238E27FC236}">
                <a16:creationId xmlns:a16="http://schemas.microsoft.com/office/drawing/2014/main" id="{AA0392CB-9B36-65B0-D861-9BD72A2994E0}"/>
              </a:ext>
            </a:extLst>
          </p:cNvPr>
          <p:cNvPicPr>
            <a:picLocks noChangeAspect="1"/>
          </p:cNvPicPr>
          <p:nvPr/>
        </p:nvPicPr>
        <p:blipFill>
          <a:blip r:embed="rId3"/>
          <a:stretch>
            <a:fillRect/>
          </a:stretch>
        </p:blipFill>
        <p:spPr>
          <a:xfrm>
            <a:off x="873760" y="992163"/>
            <a:ext cx="10281920" cy="554259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IN" b="1" dirty="0"/>
              <a:t>Role of Agentic AI in Startup Blueprint Generator Agent</a:t>
            </a:r>
            <a:endParaRPr lang="en-IN" dirty="0"/>
          </a:p>
          <a:p>
            <a:r>
              <a:rPr lang="en-IN" dirty="0"/>
              <a:t>Agentic AI enables the Startup Blueprint Generator Agent to function as an intelligent, autonomous system rather than a simple chatbot. Using </a:t>
            </a:r>
            <a:r>
              <a:rPr lang="en-IN" b="1" dirty="0"/>
              <a:t>IBM watsonx.ai and IBM Granite models</a:t>
            </a:r>
            <a:r>
              <a:rPr lang="en-IN" dirty="0"/>
              <a:t>, it coordinates multiple specialized agents to deliver structured, comprehensive business blueprints. Each agent performs a specific role—such as retrieving market research and policy data, generating business model canvases, estimating budgets, and outlining go-to-market strategies—while working collaboratively. This </a:t>
            </a:r>
            <a:r>
              <a:rPr lang="en-IN" b="1" dirty="0"/>
              <a:t>multi-agent approach</a:t>
            </a:r>
            <a:r>
              <a:rPr lang="en-IN" dirty="0"/>
              <a:t> ensures efficient task execution and accurate results.</a:t>
            </a:r>
          </a:p>
          <a:p>
            <a:r>
              <a:rPr lang="en-IN" dirty="0"/>
              <a:t>Agentic AI also brings </a:t>
            </a:r>
            <a:r>
              <a:rPr lang="en-IN" b="1" dirty="0"/>
              <a:t>context awareness</a:t>
            </a:r>
            <a:r>
              <a:rPr lang="en-IN" dirty="0"/>
              <a:t>, understanding user details like raw startup ideas and specific business requirements to generate tailored recommendations. It supports </a:t>
            </a:r>
            <a:r>
              <a:rPr lang="en-IN" b="1" dirty="0"/>
              <a:t>real-time adaptation</a:t>
            </a:r>
            <a:r>
              <a:rPr lang="en-IN" dirty="0"/>
              <a:t>, continuously updating suggestions based on user inputs and project modifications. Additionally, agents communicate with each other, enabling better decision-making and improved outcomes.</a:t>
            </a:r>
          </a:p>
          <a:p>
            <a:r>
              <a:rPr lang="en-IN" dirty="0"/>
              <a:t>Overall, Agentic AI makes the system proactive, personalized, and goal-driven, acting like a </a:t>
            </a:r>
            <a:r>
              <a:rPr lang="en-IN" b="1" dirty="0"/>
              <a:t>smart business consultant</a:t>
            </a:r>
            <a:r>
              <a:rPr lang="en-IN" dirty="0"/>
              <a:t> that helps entrepreneurs navigate from idea to implementation successfully.</a:t>
            </a:r>
          </a:p>
        </p:txBody>
      </p:sp>
    </p:spTree>
    <p:extLst>
      <p:ext uri="{BB962C8B-B14F-4D97-AF65-F5344CB8AC3E}">
        <p14:creationId xmlns:p14="http://schemas.microsoft.com/office/powerpoint/2010/main" val="40006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8" name="Picture 7">
            <a:extLst>
              <a:ext uri="{FF2B5EF4-FFF2-40B4-BE49-F238E27FC236}">
                <a16:creationId xmlns:a16="http://schemas.microsoft.com/office/drawing/2014/main" id="{4712CABA-7A39-EF32-B524-16155F5CA81A}"/>
              </a:ext>
            </a:extLst>
          </p:cNvPr>
          <p:cNvPicPr>
            <a:picLocks noChangeAspect="1"/>
          </p:cNvPicPr>
          <p:nvPr/>
        </p:nvPicPr>
        <p:blipFill>
          <a:blip r:embed="rId3"/>
          <a:stretch>
            <a:fillRect/>
          </a:stretch>
        </p:blipFill>
        <p:spPr>
          <a:xfrm>
            <a:off x="440129" y="2486334"/>
            <a:ext cx="4420217" cy="3238952"/>
          </a:xfrm>
          <a:prstGeom prst="rect">
            <a:avLst/>
          </a:prstGeom>
        </p:spPr>
      </p:pic>
      <p:pic>
        <p:nvPicPr>
          <p:cNvPr id="10" name="Picture 9">
            <a:extLst>
              <a:ext uri="{FF2B5EF4-FFF2-40B4-BE49-F238E27FC236}">
                <a16:creationId xmlns:a16="http://schemas.microsoft.com/office/drawing/2014/main" id="{D6A6A968-E09D-CBF5-6165-418E0A303E5A}"/>
              </a:ext>
            </a:extLst>
          </p:cNvPr>
          <p:cNvPicPr>
            <a:picLocks noChangeAspect="1"/>
          </p:cNvPicPr>
          <p:nvPr/>
        </p:nvPicPr>
        <p:blipFill>
          <a:blip r:embed="rId4"/>
          <a:stretch>
            <a:fillRect/>
          </a:stretch>
        </p:blipFill>
        <p:spPr>
          <a:xfrm>
            <a:off x="5815818" y="2538729"/>
            <a:ext cx="5325218" cy="313416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A93E808E-3FFE-AE30-4D02-DC018B7922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1524" y="816977"/>
            <a:ext cx="10292080" cy="578929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F9D4163-1F02-20E8-BD2F-8E3808A0DB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02079" y="1146928"/>
            <a:ext cx="8687277" cy="488659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id="{C039914B-2B97-08AC-FD17-C51D9DF68B4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36236" y="955674"/>
            <a:ext cx="9337040" cy="525208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A1D52DA-D764-8314-212C-8719B79FC55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B21F125-1838-77D6-86A4-A81F4DC8802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B784E382-112D-C026-1E54-D55ABA304A0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5368C30-29DE-69D4-FA54-13C97F71E8F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76DC95E-624D-70A3-9409-BA6877013B6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022035E-CA3E-4907-7263-412087E3395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18724" y="816977"/>
            <a:ext cx="10139680" cy="5703570"/>
          </a:xfrm>
          <a:prstGeom prst="rect">
            <a:avLst/>
          </a:prstGeom>
        </p:spPr>
      </p:pic>
    </p:spTree>
    <p:extLst>
      <p:ext uri="{BB962C8B-B14F-4D97-AF65-F5344CB8AC3E}">
        <p14:creationId xmlns:p14="http://schemas.microsoft.com/office/powerpoint/2010/main" val="2832602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E508E10-044C-FF74-D63C-98091C42626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859AE15D-112B-9417-B048-074973BFA2B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9AB92E62-5AD6-4FD3-92C6-65B278E7C2B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B033343-447C-50D8-7E71-E2416425C6A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245869B-121C-9E6B-0E1F-A8C1C707ED4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CDBA15FD-DA0A-CAB3-58B2-1C18C1C6B22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2320" y="816977"/>
            <a:ext cx="10627360" cy="5977890"/>
          </a:xfrm>
          <a:prstGeom prst="rect">
            <a:avLst/>
          </a:prstGeom>
        </p:spPr>
      </p:pic>
    </p:spTree>
    <p:extLst>
      <p:ext uri="{BB962C8B-B14F-4D97-AF65-F5344CB8AC3E}">
        <p14:creationId xmlns:p14="http://schemas.microsoft.com/office/powerpoint/2010/main" val="2543130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0476BF3-96BC-D510-A408-CB6A269642E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A4F0E81-03CA-84A8-5A4E-E61D7610242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085FEBC9-1111-38CC-6A85-F2C40AF6A89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17896D7-A6EA-6FE5-ECD3-E163312E5FA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E3AC4D7-FDB4-77E7-99EB-1FC7E968AA5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ECCD733-0381-F89D-BBDB-27D2676C559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94044" y="971550"/>
            <a:ext cx="10464800" cy="5886450"/>
          </a:xfrm>
          <a:prstGeom prst="rect">
            <a:avLst/>
          </a:prstGeom>
        </p:spPr>
      </p:pic>
    </p:spTree>
    <p:extLst>
      <p:ext uri="{BB962C8B-B14F-4D97-AF65-F5344CB8AC3E}">
        <p14:creationId xmlns:p14="http://schemas.microsoft.com/office/powerpoint/2010/main" val="948183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53A4E0-6279-A2D4-8E5A-C0D6A6DADAE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728B77F-0D33-B1A2-BC19-A90B5F246939}"/>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38D1D733-1310-000C-4A9A-20D2AEEA7C11}"/>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BA76CD76-8AA3-67C5-9D84-54826C94BE8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9778D57-7CE7-CBB3-3C6A-553876BE81A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21E8568-516E-5757-8B01-9B863DCF5D2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6960" y="906780"/>
            <a:ext cx="10200640" cy="5737860"/>
          </a:xfrm>
          <a:prstGeom prst="rect">
            <a:avLst/>
          </a:prstGeom>
        </p:spPr>
      </p:pic>
    </p:spTree>
    <p:extLst>
      <p:ext uri="{BB962C8B-B14F-4D97-AF65-F5344CB8AC3E}">
        <p14:creationId xmlns:p14="http://schemas.microsoft.com/office/powerpoint/2010/main" val="245512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12BA763-BC6A-398D-F107-10CB6654742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9217C20-E326-994B-5CEB-CFC8A3C85937}"/>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651B4F38-7C15-6DDF-273B-E955240F972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2CB9BB4-B5D1-9AF8-18C7-BA08F362761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2A2A99-DC33-7BA5-832F-9C675A90B5D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84D161F-EF18-F25E-EBB0-044D293C36C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6960" y="935990"/>
            <a:ext cx="9733280" cy="5474970"/>
          </a:xfrm>
          <a:prstGeom prst="rect">
            <a:avLst/>
          </a:prstGeom>
        </p:spPr>
      </p:pic>
    </p:spTree>
    <p:extLst>
      <p:ext uri="{BB962C8B-B14F-4D97-AF65-F5344CB8AC3E}">
        <p14:creationId xmlns:p14="http://schemas.microsoft.com/office/powerpoint/2010/main" val="247754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00E9159-1E4B-A8E3-DC41-BCDC921602D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B458428-B5A2-12F5-1C25-7F689EEC5AC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CC8FB040-B685-0F36-E92B-64599A9FD5F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0C4E650-A041-14CD-0C98-6A79AEC1CC9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313C1F5-8898-4EEA-DBDF-FEC39D951CB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D960A12-16FE-8F74-5FE1-F2B88CF7318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3280" y="744220"/>
            <a:ext cx="10038080" cy="5646420"/>
          </a:xfrm>
          <a:prstGeom prst="rect">
            <a:avLst/>
          </a:prstGeom>
        </p:spPr>
      </p:pic>
    </p:spTree>
    <p:extLst>
      <p:ext uri="{BB962C8B-B14F-4D97-AF65-F5344CB8AC3E}">
        <p14:creationId xmlns:p14="http://schemas.microsoft.com/office/powerpoint/2010/main" val="1580124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5458AB4-E1D9-834E-D326-9EA5595E681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F914D1B-A524-CA96-8F95-EF1F2BA4389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7C7692C-0F1E-1990-F9E9-D793BE32663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3346C54-2E5D-0F44-4909-1E9A0C95B9E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E5E7E26-1586-584B-29F8-4C72CC3F9BF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A82A497-1F8E-F92D-8B1E-0CE61BC084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52880" y="816977"/>
            <a:ext cx="9113520" cy="5126355"/>
          </a:xfrm>
          <a:prstGeom prst="rect">
            <a:avLst/>
          </a:prstGeom>
        </p:spPr>
      </p:pic>
    </p:spTree>
    <p:extLst>
      <p:ext uri="{BB962C8B-B14F-4D97-AF65-F5344CB8AC3E}">
        <p14:creationId xmlns:p14="http://schemas.microsoft.com/office/powerpoint/2010/main" val="2174945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EDF607C-F86F-A868-16D8-57D1F5DA008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FB1E106-A530-347A-FA95-85E66E5EEC79}"/>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516B5CDA-7648-1911-9F22-23A855B763B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8B22AF2-8729-F15D-3E57-BC96CCB071F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248371D-DDC6-53F9-D862-FB4525F5FE2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ADBDDD3-B3C8-3C7D-F37F-038340FE98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18724" y="948605"/>
            <a:ext cx="9936480" cy="5589270"/>
          </a:xfrm>
          <a:prstGeom prst="rect">
            <a:avLst/>
          </a:prstGeom>
        </p:spPr>
      </p:pic>
    </p:spTree>
    <p:extLst>
      <p:ext uri="{BB962C8B-B14F-4D97-AF65-F5344CB8AC3E}">
        <p14:creationId xmlns:p14="http://schemas.microsoft.com/office/powerpoint/2010/main" val="1624250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BB6D1D8-B0BC-F602-6C08-562D2A678C0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6A5185F-40EE-7141-8758-8204270BF0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7043E4E1-DCC9-B370-7D89-7D10C8034BF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179C230-E8FB-6B8D-F60F-AC6626766004}"/>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5C7A51C-07EB-3245-E19E-994CB8430431}"/>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4FAB5B2-7160-BAAD-B8A9-1E2CE281827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3280" y="860022"/>
            <a:ext cx="10251440" cy="5766435"/>
          </a:xfrm>
          <a:prstGeom prst="rect">
            <a:avLst/>
          </a:prstGeom>
        </p:spPr>
      </p:pic>
    </p:spTree>
    <p:extLst>
      <p:ext uri="{BB962C8B-B14F-4D97-AF65-F5344CB8AC3E}">
        <p14:creationId xmlns:p14="http://schemas.microsoft.com/office/powerpoint/2010/main" val="1048090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0F3A102-8D21-2D44-EFEB-66308D52FA6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108E61C-0806-BB90-BF2A-EC4543FE1D16}"/>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B428885-BAD2-C07D-A4F2-1C672BF78A5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06B6034-35DE-05E6-F836-2676EA88196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09E33A2-32A8-F5B7-CB8E-6CFF0E1FDD8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B8135E6-31C9-EFDC-D4F5-B3B7994EBF4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4556" y="934720"/>
            <a:ext cx="10078720" cy="5669280"/>
          </a:xfrm>
          <a:prstGeom prst="rect">
            <a:avLst/>
          </a:prstGeom>
        </p:spPr>
      </p:pic>
    </p:spTree>
    <p:extLst>
      <p:ext uri="{BB962C8B-B14F-4D97-AF65-F5344CB8AC3E}">
        <p14:creationId xmlns:p14="http://schemas.microsoft.com/office/powerpoint/2010/main" val="2738774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F20DA51-81FA-3A65-8A23-60E554FD804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51B469F-AAD6-FCFD-8867-A498E59C8A3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FA572359-1760-777A-D7E6-C327047C926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2BFFF3-BE2D-BC05-5DE0-3F13C35C8E91}"/>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97B9B85-7E91-0834-708B-230910A4730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BAAF8224-FE0D-CEF7-492D-7163CCCCBB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6596" y="906361"/>
            <a:ext cx="10086680" cy="5673758"/>
          </a:xfrm>
          <a:prstGeom prst="rect">
            <a:avLst/>
          </a:prstGeom>
        </p:spPr>
      </p:pic>
    </p:spTree>
    <p:extLst>
      <p:ext uri="{BB962C8B-B14F-4D97-AF65-F5344CB8AC3E}">
        <p14:creationId xmlns:p14="http://schemas.microsoft.com/office/powerpoint/2010/main" val="720677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CA44BC1-0CF0-3FEE-7AC6-BD23FF0896D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A1F37AA-0313-E2A6-405E-4AA5DD5B69E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DA7D6C-B37A-E6FA-EB84-A3FD12CA0B0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D6E253C-8B42-8E3F-5F7E-1E9727B5AD7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0A546DA-A23D-8136-A741-AD00DD06CF1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4A5B4FC-D949-5257-580C-C8D6CED5005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4400" y="879848"/>
            <a:ext cx="10180949" cy="5726784"/>
          </a:xfrm>
          <a:prstGeom prst="rect">
            <a:avLst/>
          </a:prstGeom>
        </p:spPr>
      </p:pic>
    </p:spTree>
    <p:extLst>
      <p:ext uri="{BB962C8B-B14F-4D97-AF65-F5344CB8AC3E}">
        <p14:creationId xmlns:p14="http://schemas.microsoft.com/office/powerpoint/2010/main" val="3339815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333C4F3-0C1D-42B3-3C6F-8EC6B5E4F3C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C1428C2-F0B0-88FE-A2B6-F3758C0BC64A}"/>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FD158594-13BF-D79B-6C10-49AF627D22F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050EE89-98D3-E5AF-18E2-56783951775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1F5F78D-990B-AC19-95F6-CFEF3E2DFFA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02B683D-8783-811E-38D6-F9DA6021515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9220" y="908507"/>
            <a:ext cx="9973559" cy="5610127"/>
          </a:xfrm>
          <a:prstGeom prst="rect">
            <a:avLst/>
          </a:prstGeom>
        </p:spPr>
      </p:pic>
    </p:spTree>
    <p:extLst>
      <p:ext uri="{BB962C8B-B14F-4D97-AF65-F5344CB8AC3E}">
        <p14:creationId xmlns:p14="http://schemas.microsoft.com/office/powerpoint/2010/main" val="2000961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D6386A1-A4D7-FFE8-6880-AFD252B1F34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B3483309-8133-398C-0FD0-8AE68133F4C7}"/>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0E95B4B-06E6-5D82-9AD1-46855CE9F86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359B42A-D506-5351-3677-02F40FECEB1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907842E6-8387-5644-9769-2DB4BE211251}"/>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76D09C4-F391-1F71-A683-3C9B6B12A87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95643" y="1044263"/>
            <a:ext cx="9577633" cy="5387419"/>
          </a:xfrm>
          <a:prstGeom prst="rect">
            <a:avLst/>
          </a:prstGeom>
        </p:spPr>
      </p:pic>
    </p:spTree>
    <p:extLst>
      <p:ext uri="{BB962C8B-B14F-4D97-AF65-F5344CB8AC3E}">
        <p14:creationId xmlns:p14="http://schemas.microsoft.com/office/powerpoint/2010/main" val="3442775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FA008E7-78B3-57D5-068C-3DD5710FD3D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DAF8C54-F6A2-DA77-1AF5-88DE1042159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1742EB63-D7C4-E12A-64A0-A55535C0E00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EE9CB96-DC4A-99C4-8D39-EE6B52DFA10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89F3740-0045-0852-0BE5-2D24961A33C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F88536E-8A3E-FBDB-3DA2-45092923DFB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1179" y="923827"/>
            <a:ext cx="10549641" cy="5934173"/>
          </a:xfrm>
          <a:prstGeom prst="rect">
            <a:avLst/>
          </a:prstGeom>
        </p:spPr>
      </p:pic>
    </p:spTree>
    <p:extLst>
      <p:ext uri="{BB962C8B-B14F-4D97-AF65-F5344CB8AC3E}">
        <p14:creationId xmlns:p14="http://schemas.microsoft.com/office/powerpoint/2010/main" val="2571741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37AB4B2-6652-AA1A-F630-2EACC8418CC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38BAFFF-3BC7-178E-6116-D7B2D703663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2B71677D-3BA3-29D4-8105-3D689A4EC87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FEB9A9C-2154-C7A5-E184-80AD4043734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7E16E2D-7518-E2BA-57D3-2CD141DDE5A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BEDED9A-0A3F-AD21-5621-C48443331A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659" y="994480"/>
            <a:ext cx="10223217" cy="5750560"/>
          </a:xfrm>
          <a:prstGeom prst="rect">
            <a:avLst/>
          </a:prstGeom>
        </p:spPr>
      </p:pic>
    </p:spTree>
    <p:extLst>
      <p:ext uri="{BB962C8B-B14F-4D97-AF65-F5344CB8AC3E}">
        <p14:creationId xmlns:p14="http://schemas.microsoft.com/office/powerpoint/2010/main" val="2838377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BB33184-43E1-588B-7071-8D1D0A601C5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5EB4CA1-1A6D-5C2D-B2D8-BB0E541F53D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B7CC06E8-BA9B-8522-6409-C879D1AB324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FA42BA7-B437-5420-166D-133323EA03E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97906DBA-1B08-6EB7-5259-5BB2FCB8CF1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DA76AE6-786C-A2BA-630A-DD7161467F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5840" y="852875"/>
            <a:ext cx="10474960" cy="5892165"/>
          </a:xfrm>
          <a:prstGeom prst="rect">
            <a:avLst/>
          </a:prstGeom>
        </p:spPr>
      </p:pic>
    </p:spTree>
    <p:extLst>
      <p:ext uri="{BB962C8B-B14F-4D97-AF65-F5344CB8AC3E}">
        <p14:creationId xmlns:p14="http://schemas.microsoft.com/office/powerpoint/2010/main" val="3466710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801D3BE-4CC0-1BDE-0E41-48AAA61DC75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12BF0D7-DF28-FA6D-E383-0DBA920AC9F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AE7DEAF-82CA-A640-412F-003C0B29A01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E34F514-4036-C7E7-571D-6D55CB39478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F454D85-1508-2838-3C37-81670B07107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E4367990-4B84-194F-FB74-76020CC6665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18724" y="982895"/>
            <a:ext cx="9814560" cy="5520690"/>
          </a:xfrm>
          <a:prstGeom prst="rect">
            <a:avLst/>
          </a:prstGeom>
        </p:spPr>
      </p:pic>
    </p:spTree>
    <p:extLst>
      <p:ext uri="{BB962C8B-B14F-4D97-AF65-F5344CB8AC3E}">
        <p14:creationId xmlns:p14="http://schemas.microsoft.com/office/powerpoint/2010/main" val="33451158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7BA4CF2-7724-BDFF-C254-21DC2913849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FA6602C-C078-12C4-C285-A2687D2FC68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3B19FBC6-F07D-F98B-5D30-255BBD3C15D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2090179-AA7D-F0FE-6049-9CF47816DD1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439E730-4329-FBC2-3A7E-B18DD151E9C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8353B103-8717-86DF-6CFB-3B0C289366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91920" y="971465"/>
            <a:ext cx="9855200" cy="5543550"/>
          </a:xfrm>
          <a:prstGeom prst="rect">
            <a:avLst/>
          </a:prstGeom>
        </p:spPr>
      </p:pic>
    </p:spTree>
    <p:extLst>
      <p:ext uri="{BB962C8B-B14F-4D97-AF65-F5344CB8AC3E}">
        <p14:creationId xmlns:p14="http://schemas.microsoft.com/office/powerpoint/2010/main" val="3325908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FD965C7-B7AE-6FE6-5229-87702A15662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81F666B-A264-D5BB-71C0-96AC5232828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22C9353-ECBD-AAFD-06E5-4092A6369B0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D32EE3B-FB9A-E6FE-F334-27C54C5F919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25F8E6A-FF7F-8E97-2F3E-2CA045C9F21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80B6A166-168E-2362-3D95-229328F80D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78000" y="1081716"/>
            <a:ext cx="8805908" cy="4953323"/>
          </a:xfrm>
          <a:prstGeom prst="rect">
            <a:avLst/>
          </a:prstGeom>
        </p:spPr>
      </p:pic>
    </p:spTree>
    <p:extLst>
      <p:ext uri="{BB962C8B-B14F-4D97-AF65-F5344CB8AC3E}">
        <p14:creationId xmlns:p14="http://schemas.microsoft.com/office/powerpoint/2010/main" val="2202906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BD9AB27-BA9A-9C8D-8BCA-91169D0BA0A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12BBE4D-12F0-05A1-1E74-4B19BF8A2D0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7822E96B-06F8-D662-CC72-C0630F50AF9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7DFD137-F4A4-7AC2-9E39-FD58E1883A3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2CE8061-F2AD-6E1E-6940-65C99405B82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28E601C-94D2-BB47-979B-1E11F13D98A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27200" y="1044263"/>
            <a:ext cx="9339298" cy="5253355"/>
          </a:xfrm>
          <a:prstGeom prst="rect">
            <a:avLst/>
          </a:prstGeom>
        </p:spPr>
      </p:pic>
    </p:spTree>
    <p:extLst>
      <p:ext uri="{BB962C8B-B14F-4D97-AF65-F5344CB8AC3E}">
        <p14:creationId xmlns:p14="http://schemas.microsoft.com/office/powerpoint/2010/main" val="30368279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7C252D5-7B62-9004-9B2E-E0D2FD72D36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C8A3F25-F51F-A7E7-A8EF-242D42F8A01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7A79F26-DEBD-23CA-C5DD-19F0897FA76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C0BF4A5-14C9-6676-45F4-B3223255A001}"/>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16EC091-C842-E008-81D9-8A1CC7F0FE8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DCF496FA-D60A-09CB-FB3E-59BAAE0028C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8542" y="1044263"/>
            <a:ext cx="9554916" cy="5374640"/>
          </a:xfrm>
          <a:prstGeom prst="rect">
            <a:avLst/>
          </a:prstGeom>
        </p:spPr>
      </p:pic>
    </p:spTree>
    <p:extLst>
      <p:ext uri="{BB962C8B-B14F-4D97-AF65-F5344CB8AC3E}">
        <p14:creationId xmlns:p14="http://schemas.microsoft.com/office/powerpoint/2010/main" val="3762969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AE137D3-0D43-3233-6DA9-A8D693DEB6E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E420B67-3791-56F5-3E45-18A90CECADD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F3E2293E-C180-26EF-BF97-C0B5FACBD38B}"/>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3083C6-DF30-F151-C7BC-96C65B72CC6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04D15B-84BA-1054-1862-E09B63673A8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D1C89216-4293-A1F1-38BE-E2AD6E3013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1080" y="888597"/>
            <a:ext cx="10149840" cy="5709285"/>
          </a:xfrm>
          <a:prstGeom prst="rect">
            <a:avLst/>
          </a:prstGeom>
        </p:spPr>
      </p:pic>
    </p:spTree>
    <p:extLst>
      <p:ext uri="{BB962C8B-B14F-4D97-AF65-F5344CB8AC3E}">
        <p14:creationId xmlns:p14="http://schemas.microsoft.com/office/powerpoint/2010/main" val="1809439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01314"/>
          </a:xfrm>
          <a:prstGeom prst="rect">
            <a:avLst/>
          </a:prstGeom>
          <a:noFill/>
        </p:spPr>
        <p:txBody>
          <a:bodyPr wrap="square" rtlCol="0">
            <a:spAutoFit/>
          </a:bodyPr>
          <a:lstStyle/>
          <a:p>
            <a:r>
              <a:rPr lang="en-IN" sz="1800" dirty="0"/>
              <a:t>The proposed Startup Blueprint Generator Agent stands out by combining </a:t>
            </a:r>
            <a:r>
              <a:rPr lang="en-IN" sz="1800" b="1" dirty="0"/>
              <a:t>Agentic AI, RAG, and automated business planning</a:t>
            </a:r>
            <a:r>
              <a:rPr lang="en-IN" sz="1800" dirty="0"/>
              <a:t> into a single intelligent system.</a:t>
            </a:r>
          </a:p>
          <a:p>
            <a:endParaRPr lang="en-IN" sz="1800" dirty="0"/>
          </a:p>
          <a:p>
            <a:pPr lvl="0"/>
            <a:r>
              <a:rPr lang="en-IN" sz="1800" b="1" dirty="0"/>
              <a:t>Multi-Agent Intelligence</a:t>
            </a:r>
            <a:r>
              <a:rPr lang="en-IN" sz="1800" dirty="0"/>
              <a:t> – Instead of a single generic response, multiple specialized agents collaborate to deliver accurate, comprehensive, and context-aware business blueprints.</a:t>
            </a:r>
          </a:p>
          <a:p>
            <a:pPr lvl="0"/>
            <a:r>
              <a:rPr lang="en-IN" sz="1800" b="1" dirty="0"/>
              <a:t>RAG-Based Accuracy</a:t>
            </a:r>
            <a:r>
              <a:rPr lang="en-IN" sz="1800" dirty="0"/>
              <a:t> – Integrates real-time data retrieval from startup portals and policy documents with AI generation, reducing ambiguity and ensuring trustworthy recommendations.</a:t>
            </a:r>
          </a:p>
          <a:p>
            <a:pPr lvl="0"/>
            <a:r>
              <a:rPr lang="en-IN" sz="1800" b="1" dirty="0"/>
              <a:t>Hyper-Personalization</a:t>
            </a:r>
            <a:r>
              <a:rPr lang="en-IN" sz="1800" dirty="0"/>
              <a:t> – Tailors business model canvases, financial budgets, and go-to-market strategies based on raw startup ideas.</a:t>
            </a:r>
          </a:p>
          <a:p>
            <a:pPr lvl="0"/>
            <a:r>
              <a:rPr lang="en-IN" sz="1800" b="1" dirty="0"/>
              <a:t>Real-Time Feedback Loop</a:t>
            </a:r>
            <a:r>
              <a:rPr lang="en-IN" sz="1800" dirty="0"/>
              <a:t> – Continuously adapts and refines strategic recommendations based on user inputs and project scope.</a:t>
            </a:r>
          </a:p>
          <a:p>
            <a:pPr lvl="0"/>
            <a:r>
              <a:rPr lang="en-IN" sz="1800" b="1" dirty="0"/>
              <a:t>Multi-Aspect Coverage</a:t>
            </a:r>
            <a:r>
              <a:rPr lang="en-IN" sz="1800" dirty="0"/>
              <a:t> – Covers market research, funding options, competitor analysis, revenue models, government schemes, and legal requirements.</a:t>
            </a:r>
          </a:p>
          <a:p>
            <a:pPr lvl="0"/>
            <a:r>
              <a:rPr lang="en-IN" sz="1800" b="1" dirty="0"/>
              <a:t>Growth &amp; Investment Focus</a:t>
            </a:r>
            <a:r>
              <a:rPr lang="en-IN" sz="1800" dirty="0"/>
              <a:t> – Goes beyond basic planning to provide potential investor connections and funding roadmaps.</a:t>
            </a:r>
          </a:p>
          <a:p>
            <a:pPr lvl="0"/>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security, and governance.</a:t>
            </a:r>
          </a:p>
        </p:txBody>
      </p:sp>
    </p:spTree>
    <p:extLst>
      <p:ext uri="{BB962C8B-B14F-4D97-AF65-F5344CB8AC3E}">
        <p14:creationId xmlns:p14="http://schemas.microsoft.com/office/powerpoint/2010/main" val="23252822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github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Github URL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hlinkClick r:id="rId3"/>
              </a:rPr>
              <a:t>https://github.com/palakmittal2208/-Startup-Blueprint-Generator-Agent-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github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Integration with Investor Networks &amp; VC APIs</a:t>
            </a:r>
            <a:r>
              <a:rPr lang="en-IN" sz="1800" dirty="0"/>
              <a:t> –</a:t>
            </a:r>
          </a:p>
          <a:p>
            <a:r>
              <a:rPr lang="en-IN" sz="1800" dirty="0"/>
              <a:t>The system can be integrated directly with real-time venture capital and angel investor databases (such as Crunchbase or AngelList APIs). This will enable the Startup Blueprint Generator Agent to fetch active funding connections, match founders with relevant investors automatically, and provide live funding status updates.</a:t>
            </a:r>
          </a:p>
          <a:p>
            <a:endParaRPr lang="en-IN" sz="1800" dirty="0"/>
          </a:p>
          <a:p>
            <a:r>
              <a:rPr lang="en-IN" sz="1800" b="1" dirty="0"/>
              <a:t>2. AI-Powered Voice Assistant &amp; Multilingual Support</a:t>
            </a:r>
            <a:r>
              <a:rPr lang="en-IN" sz="1800" dirty="0"/>
              <a:t> –</a:t>
            </a:r>
          </a:p>
          <a:p>
            <a:r>
              <a:rPr lang="en-IN" sz="1800" dirty="0"/>
              <a:t>Enhancing the system with a voice-enabled assistant and support for multiple regional languages will improve accessibility. Aspiring entrepreneurs can describe their business ideas naturally in their preferred language, making the solution more inclusive and suitable for diverse founders across different regions.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credly certificate(Getting Started with Artificial Intelligence)  </a:t>
            </a:r>
          </a:p>
        </p:txBody>
      </p:sp>
      <p:pic>
        <p:nvPicPr>
          <p:cNvPr id="4" name="Picture 3">
            <a:extLst>
              <a:ext uri="{FF2B5EF4-FFF2-40B4-BE49-F238E27FC236}">
                <a16:creationId xmlns:a16="http://schemas.microsoft.com/office/drawing/2014/main" id="{0F7801BA-E6C2-38A0-F761-EEEDC5A2F5EA}"/>
              </a:ext>
            </a:extLst>
          </p:cNvPr>
          <p:cNvPicPr>
            <a:picLocks noChangeAspect="1"/>
          </p:cNvPicPr>
          <p:nvPr/>
        </p:nvPicPr>
        <p:blipFill>
          <a:blip r:embed="rId2"/>
          <a:stretch>
            <a:fillRect/>
          </a:stretch>
        </p:blipFill>
        <p:spPr>
          <a:xfrm>
            <a:off x="2310790" y="1634407"/>
            <a:ext cx="6382641" cy="476316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8" name="Picture 7">
            <a:extLst>
              <a:ext uri="{FF2B5EF4-FFF2-40B4-BE49-F238E27FC236}">
                <a16:creationId xmlns:a16="http://schemas.microsoft.com/office/drawing/2014/main" id="{6A046888-C19E-F019-0AF0-7CB4ECCAB54D}"/>
              </a:ext>
            </a:extLst>
          </p:cNvPr>
          <p:cNvPicPr>
            <a:picLocks noChangeAspect="1"/>
          </p:cNvPicPr>
          <p:nvPr/>
        </p:nvPicPr>
        <p:blipFill>
          <a:blip r:embed="rId2"/>
          <a:stretch>
            <a:fillRect/>
          </a:stretch>
        </p:blipFill>
        <p:spPr>
          <a:xfrm>
            <a:off x="1497967" y="1235930"/>
            <a:ext cx="8592749" cy="5258534"/>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1583</Words>
  <Application>Microsoft Office PowerPoint</Application>
  <PresentationFormat>Widescreen</PresentationFormat>
  <Paragraphs>226</Paragraphs>
  <Slides>48</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Palak Mittal</cp:lastModifiedBy>
  <cp:revision>4</cp:revision>
  <dcterms:created xsi:type="dcterms:W3CDTF">2025-07-08T05:06:56Z</dcterms:created>
  <dcterms:modified xsi:type="dcterms:W3CDTF">2026-09-11T16:18:07Z</dcterms:modified>
</cp:coreProperties>
</file>